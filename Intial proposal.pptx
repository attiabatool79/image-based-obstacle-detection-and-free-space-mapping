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Montserrat" charset="1" panose="00000500000000000000"/>
      <p:regular r:id="rId7"/>
    </p:embeddedFont>
    <p:embeddedFont>
      <p:font typeface="Montserrat Bold" charset="1" panose="00000800000000000000"/>
      <p:regular r:id="rId8"/>
    </p:embeddedFont>
    <p:embeddedFont>
      <p:font typeface="Poppins Bold" charset="1" panose="0000080000000000000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150" y="1884682"/>
            <a:ext cx="5248889" cy="3932062"/>
            <a:chOff x="0" y="0"/>
            <a:chExt cx="1768888" cy="13251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68888" cy="1325114"/>
            </a:xfrm>
            <a:custGeom>
              <a:avLst/>
              <a:gdLst/>
              <a:ahLst/>
              <a:cxnLst/>
              <a:rect r="r" b="b" t="t" l="l"/>
              <a:pathLst>
                <a:path h="1325114" w="1768888">
                  <a:moveTo>
                    <a:pt x="36874" y="0"/>
                  </a:moveTo>
                  <a:lnTo>
                    <a:pt x="1732014" y="0"/>
                  </a:lnTo>
                  <a:cubicBezTo>
                    <a:pt x="1741794" y="0"/>
                    <a:pt x="1751173" y="3885"/>
                    <a:pt x="1758088" y="10800"/>
                  </a:cubicBezTo>
                  <a:cubicBezTo>
                    <a:pt x="1765003" y="17715"/>
                    <a:pt x="1768888" y="27094"/>
                    <a:pt x="1768888" y="36874"/>
                  </a:cubicBezTo>
                  <a:lnTo>
                    <a:pt x="1768888" y="1288240"/>
                  </a:lnTo>
                  <a:cubicBezTo>
                    <a:pt x="1768888" y="1308605"/>
                    <a:pt x="1752379" y="1325114"/>
                    <a:pt x="1732014" y="1325114"/>
                  </a:cubicBezTo>
                  <a:lnTo>
                    <a:pt x="36874" y="1325114"/>
                  </a:lnTo>
                  <a:cubicBezTo>
                    <a:pt x="16509" y="1325114"/>
                    <a:pt x="0" y="1308605"/>
                    <a:pt x="0" y="1288240"/>
                  </a:cubicBezTo>
                  <a:lnTo>
                    <a:pt x="0" y="36874"/>
                  </a:lnTo>
                  <a:cubicBezTo>
                    <a:pt x="0" y="16509"/>
                    <a:pt x="16509" y="0"/>
                    <a:pt x="36874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68888" cy="1363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main problem is to use digital image processing to extract obstacles and free space from raw images so a robot can navigate an unknown environment.</a:t>
              </a:r>
            </a:p>
            <a:p>
              <a:pPr algn="just">
                <a:lnSpc>
                  <a:spcPts val="2659"/>
                </a:lnSpc>
              </a:pPr>
            </a:p>
            <a:p>
              <a:pPr algn="just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                          F</a:t>
              </a:r>
            </a:p>
            <a:p>
              <a:pPr algn="just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2150" y="156428"/>
            <a:ext cx="17895350" cy="1558165"/>
            <a:chOff x="0" y="0"/>
            <a:chExt cx="6030776" cy="5251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30776" cy="525105"/>
            </a:xfrm>
            <a:custGeom>
              <a:avLst/>
              <a:gdLst/>
              <a:ahLst/>
              <a:cxnLst/>
              <a:rect r="r" b="b" t="t" l="l"/>
              <a:pathLst>
                <a:path h="525105" w="6030776">
                  <a:moveTo>
                    <a:pt x="10816" y="0"/>
                  </a:moveTo>
                  <a:lnTo>
                    <a:pt x="6019960" y="0"/>
                  </a:lnTo>
                  <a:cubicBezTo>
                    <a:pt x="6025933" y="0"/>
                    <a:pt x="6030776" y="4842"/>
                    <a:pt x="6030776" y="10816"/>
                  </a:cubicBezTo>
                  <a:lnTo>
                    <a:pt x="6030776" y="514290"/>
                  </a:lnTo>
                  <a:cubicBezTo>
                    <a:pt x="6030776" y="520263"/>
                    <a:pt x="6025933" y="525105"/>
                    <a:pt x="6019960" y="525105"/>
                  </a:cubicBezTo>
                  <a:lnTo>
                    <a:pt x="10816" y="525105"/>
                  </a:lnTo>
                  <a:cubicBezTo>
                    <a:pt x="4842" y="525105"/>
                    <a:pt x="0" y="520263"/>
                    <a:pt x="0" y="514290"/>
                  </a:cubicBezTo>
                  <a:lnTo>
                    <a:pt x="0" y="10816"/>
                  </a:lnTo>
                  <a:cubicBezTo>
                    <a:pt x="0" y="4842"/>
                    <a:pt x="4842" y="0"/>
                    <a:pt x="10816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6030776" cy="5822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4479"/>
                </a:lnSpc>
              </a:pPr>
              <a:r>
                <a:rPr lang="en-US" sz="31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                       Obstacle Detection &amp; Free Space Mapping for Robot Navigation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Iqra Khadam (22-CP-35),  </a:t>
              </a:r>
              <a:r>
                <a:rPr lang="en-US" sz="2199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Attia Batool (22-CP-79)</a:t>
              </a:r>
            </a:p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Supervised By: Dr. Haroon Yousaf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6995" y="245458"/>
            <a:ext cx="1475251" cy="1325756"/>
            <a:chOff x="0" y="0"/>
            <a:chExt cx="812800" cy="7304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30434"/>
            </a:xfrm>
            <a:custGeom>
              <a:avLst/>
              <a:gdLst/>
              <a:ahLst/>
              <a:cxnLst/>
              <a:rect r="r" b="b" t="t" l="l"/>
              <a:pathLst>
                <a:path h="730434" w="812800">
                  <a:moveTo>
                    <a:pt x="406400" y="0"/>
                  </a:moveTo>
                  <a:cubicBezTo>
                    <a:pt x="181951" y="0"/>
                    <a:pt x="0" y="163513"/>
                    <a:pt x="0" y="365217"/>
                  </a:cubicBezTo>
                  <a:cubicBezTo>
                    <a:pt x="0" y="566921"/>
                    <a:pt x="181951" y="730434"/>
                    <a:pt x="406400" y="730434"/>
                  </a:cubicBezTo>
                  <a:cubicBezTo>
                    <a:pt x="630849" y="730434"/>
                    <a:pt x="812800" y="566921"/>
                    <a:pt x="812800" y="365217"/>
                  </a:cubicBezTo>
                  <a:cubicBezTo>
                    <a:pt x="812800" y="163513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4184" r="0" b="-2418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02150" y="5887283"/>
            <a:ext cx="5248690" cy="4196093"/>
            <a:chOff x="0" y="0"/>
            <a:chExt cx="1768821" cy="141409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8821" cy="1414093"/>
            </a:xfrm>
            <a:custGeom>
              <a:avLst/>
              <a:gdLst/>
              <a:ahLst/>
              <a:cxnLst/>
              <a:rect r="r" b="b" t="t" l="l"/>
              <a:pathLst>
                <a:path h="1414093" w="1768821">
                  <a:moveTo>
                    <a:pt x="36875" y="0"/>
                  </a:moveTo>
                  <a:lnTo>
                    <a:pt x="1731945" y="0"/>
                  </a:lnTo>
                  <a:cubicBezTo>
                    <a:pt x="1752311" y="0"/>
                    <a:pt x="1768821" y="16510"/>
                    <a:pt x="1768821" y="36875"/>
                  </a:cubicBezTo>
                  <a:lnTo>
                    <a:pt x="1768821" y="1377218"/>
                  </a:lnTo>
                  <a:cubicBezTo>
                    <a:pt x="1768821" y="1397583"/>
                    <a:pt x="1752311" y="1414093"/>
                    <a:pt x="1731945" y="1414093"/>
                  </a:cubicBezTo>
                  <a:lnTo>
                    <a:pt x="36875" y="1414093"/>
                  </a:lnTo>
                  <a:cubicBezTo>
                    <a:pt x="16510" y="1414093"/>
                    <a:pt x="0" y="1397583"/>
                    <a:pt x="0" y="1377218"/>
                  </a:cubicBezTo>
                  <a:lnTo>
                    <a:pt x="0" y="36875"/>
                  </a:lnTo>
                  <a:cubicBezTo>
                    <a:pt x="0" y="16510"/>
                    <a:pt x="16510" y="0"/>
                    <a:pt x="36875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68821" cy="1452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1237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WP1 – Depth of Knowledge</a:t>
              </a:r>
              <a:r>
                <a:rPr lang="en-US" b="true" sz="18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:</a:t>
              </a: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Robots must navigate unknown environments safely.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1237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WP2 – Conflicting Requirements:</a:t>
              </a:r>
              <a:r>
                <a:rPr lang="en-US" sz="1899">
                  <a:solidFill>
                    <a:srgbClr val="145DA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Must balance accuracy, speed, and reliability under unpredictable conditions.</a:t>
              </a:r>
            </a:p>
            <a:p>
              <a:pPr algn="l" marL="410209" indent="-205105" lvl="1">
                <a:lnSpc>
                  <a:spcPts val="26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1899">
                  <a:solidFill>
                    <a:srgbClr val="01237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WP3 – Depth of Analysis:</a:t>
              </a: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Requires advanced analysis to detect obstacles and plan a path.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527240" y="1884682"/>
            <a:ext cx="5128660" cy="2895537"/>
            <a:chOff x="0" y="0"/>
            <a:chExt cx="1728371" cy="9758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28371" cy="975803"/>
            </a:xfrm>
            <a:custGeom>
              <a:avLst/>
              <a:gdLst/>
              <a:ahLst/>
              <a:cxnLst/>
              <a:rect r="r" b="b" t="t" l="l"/>
              <a:pathLst>
                <a:path h="975803" w="1728371">
                  <a:moveTo>
                    <a:pt x="37739" y="0"/>
                  </a:moveTo>
                  <a:lnTo>
                    <a:pt x="1690632" y="0"/>
                  </a:lnTo>
                  <a:cubicBezTo>
                    <a:pt x="1711475" y="0"/>
                    <a:pt x="1728371" y="16896"/>
                    <a:pt x="1728371" y="37739"/>
                  </a:cubicBezTo>
                  <a:lnTo>
                    <a:pt x="1728371" y="938065"/>
                  </a:lnTo>
                  <a:cubicBezTo>
                    <a:pt x="1728371" y="958907"/>
                    <a:pt x="1711475" y="975803"/>
                    <a:pt x="1690632" y="975803"/>
                  </a:cubicBezTo>
                  <a:lnTo>
                    <a:pt x="37739" y="975803"/>
                  </a:lnTo>
                  <a:cubicBezTo>
                    <a:pt x="16896" y="975803"/>
                    <a:pt x="0" y="958907"/>
                    <a:pt x="0" y="938065"/>
                  </a:cubicBezTo>
                  <a:lnTo>
                    <a:pt x="0" y="37739"/>
                  </a:lnTo>
                  <a:cubicBezTo>
                    <a:pt x="0" y="16896"/>
                    <a:pt x="16896" y="0"/>
                    <a:pt x="37739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28371" cy="1013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Majeed, S. et al., 2019: DIP techniques for obstacle detection and path planning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Singh, K. J. et al., 2020: Image-based detection for indoor robot navigation</a:t>
              </a:r>
            </a:p>
            <a:p>
              <a:pPr algn="l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27240" y="4885009"/>
            <a:ext cx="5128660" cy="4196093"/>
            <a:chOff x="0" y="0"/>
            <a:chExt cx="1728371" cy="14140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28371" cy="1414093"/>
            </a:xfrm>
            <a:custGeom>
              <a:avLst/>
              <a:gdLst/>
              <a:ahLst/>
              <a:cxnLst/>
              <a:rect r="r" b="b" t="t" l="l"/>
              <a:pathLst>
                <a:path h="1414093" w="1728371">
                  <a:moveTo>
                    <a:pt x="37739" y="0"/>
                  </a:moveTo>
                  <a:lnTo>
                    <a:pt x="1690632" y="0"/>
                  </a:lnTo>
                  <a:cubicBezTo>
                    <a:pt x="1711475" y="0"/>
                    <a:pt x="1728371" y="16896"/>
                    <a:pt x="1728371" y="37739"/>
                  </a:cubicBezTo>
                  <a:lnTo>
                    <a:pt x="1728371" y="1376355"/>
                  </a:lnTo>
                  <a:cubicBezTo>
                    <a:pt x="1728371" y="1397197"/>
                    <a:pt x="1711475" y="1414093"/>
                    <a:pt x="1690632" y="1414093"/>
                  </a:cubicBezTo>
                  <a:lnTo>
                    <a:pt x="37739" y="1414093"/>
                  </a:lnTo>
                  <a:cubicBezTo>
                    <a:pt x="16896" y="1414093"/>
                    <a:pt x="0" y="1397197"/>
                    <a:pt x="0" y="1376355"/>
                  </a:cubicBezTo>
                  <a:lnTo>
                    <a:pt x="0" y="37739"/>
                  </a:lnTo>
                  <a:cubicBezTo>
                    <a:pt x="0" y="16896"/>
                    <a:pt x="16896" y="0"/>
                    <a:pt x="37739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728371" cy="14521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1237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Accuracy:</a:t>
              </a:r>
              <a:r>
                <a:rPr lang="en-US" b="true" sz="1899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</a:t>
              </a: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Correct detection of obstacles and free space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1237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Path Efficiency</a:t>
              </a:r>
              <a:r>
                <a:rPr lang="en-US" sz="1899">
                  <a:solidFill>
                    <a:srgbClr val="01237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:</a:t>
              </a: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Shortest and collision free path from start to goal</a:t>
              </a:r>
            </a:p>
            <a:p>
              <a:pPr algn="l" marL="410209" indent="-205105" lvl="1">
                <a:lnSpc>
                  <a:spcPts val="2659"/>
                </a:lnSpc>
                <a:buFont typeface="Arial"/>
                <a:buChar char="•"/>
              </a:pPr>
              <a:r>
                <a:rPr lang="en-US" b="true" sz="1899">
                  <a:solidFill>
                    <a:srgbClr val="01237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Processing Time:</a:t>
              </a: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How fast the system computes the path</a:t>
              </a: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>
                <a:lnSpc>
                  <a:spcPts val="2659"/>
                </a:lnSpc>
              </a:pPr>
            </a:p>
            <a:p>
              <a:pPr algn="l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527240" y="9185877"/>
            <a:ext cx="5128660" cy="897499"/>
            <a:chOff x="0" y="0"/>
            <a:chExt cx="1728371" cy="3024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28371" cy="302459"/>
            </a:xfrm>
            <a:custGeom>
              <a:avLst/>
              <a:gdLst/>
              <a:ahLst/>
              <a:cxnLst/>
              <a:rect r="r" b="b" t="t" l="l"/>
              <a:pathLst>
                <a:path h="302459" w="1728371">
                  <a:moveTo>
                    <a:pt x="37739" y="0"/>
                  </a:moveTo>
                  <a:lnTo>
                    <a:pt x="1690632" y="0"/>
                  </a:lnTo>
                  <a:cubicBezTo>
                    <a:pt x="1711475" y="0"/>
                    <a:pt x="1728371" y="16896"/>
                    <a:pt x="1728371" y="37739"/>
                  </a:cubicBezTo>
                  <a:lnTo>
                    <a:pt x="1728371" y="264721"/>
                  </a:lnTo>
                  <a:cubicBezTo>
                    <a:pt x="1728371" y="285563"/>
                    <a:pt x="1711475" y="302459"/>
                    <a:pt x="1690632" y="302459"/>
                  </a:cubicBezTo>
                  <a:lnTo>
                    <a:pt x="37739" y="302459"/>
                  </a:lnTo>
                  <a:cubicBezTo>
                    <a:pt x="16896" y="302459"/>
                    <a:pt x="0" y="285563"/>
                    <a:pt x="0" y="264721"/>
                  </a:cubicBezTo>
                  <a:lnTo>
                    <a:pt x="0" y="37739"/>
                  </a:lnTo>
                  <a:cubicBezTo>
                    <a:pt x="0" y="16896"/>
                    <a:pt x="16896" y="0"/>
                    <a:pt x="37739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728371" cy="3405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</a:pPr>
            </a:p>
            <a:p>
              <a:pPr algn="l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TUM RGB‑D and ICL‑NUIM.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732100" y="1884682"/>
            <a:ext cx="7365400" cy="8198693"/>
            <a:chOff x="0" y="0"/>
            <a:chExt cx="2482157" cy="27629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82157" cy="2762979"/>
            </a:xfrm>
            <a:custGeom>
              <a:avLst/>
              <a:gdLst/>
              <a:ahLst/>
              <a:cxnLst/>
              <a:rect r="r" b="b" t="t" l="l"/>
              <a:pathLst>
                <a:path h="2762979" w="2482157">
                  <a:moveTo>
                    <a:pt x="26278" y="0"/>
                  </a:moveTo>
                  <a:lnTo>
                    <a:pt x="2455879" y="0"/>
                  </a:lnTo>
                  <a:cubicBezTo>
                    <a:pt x="2470392" y="0"/>
                    <a:pt x="2482157" y="11765"/>
                    <a:pt x="2482157" y="26278"/>
                  </a:cubicBezTo>
                  <a:lnTo>
                    <a:pt x="2482157" y="2736701"/>
                  </a:lnTo>
                  <a:cubicBezTo>
                    <a:pt x="2482157" y="2751214"/>
                    <a:pt x="2470392" y="2762979"/>
                    <a:pt x="2455879" y="2762979"/>
                  </a:cubicBezTo>
                  <a:lnTo>
                    <a:pt x="26278" y="2762979"/>
                  </a:lnTo>
                  <a:cubicBezTo>
                    <a:pt x="11765" y="2762979"/>
                    <a:pt x="0" y="2751214"/>
                    <a:pt x="0" y="2736701"/>
                  </a:cubicBezTo>
                  <a:lnTo>
                    <a:pt x="0" y="26278"/>
                  </a:lnTo>
                  <a:cubicBezTo>
                    <a:pt x="0" y="11765"/>
                    <a:pt x="11765" y="0"/>
                    <a:pt x="26278" y="0"/>
                  </a:cubicBezTo>
                  <a:close/>
                </a:path>
              </a:pathLst>
            </a:custGeom>
            <a:solidFill>
              <a:srgbClr val="FDFDFD"/>
            </a:solidFill>
            <a:ln w="38100" cap="rnd">
              <a:solidFill>
                <a:srgbClr val="145DA0"/>
              </a:solidFill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482157" cy="28010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846400" y="6262411"/>
            <a:ext cx="7057320" cy="2973645"/>
          </a:xfrm>
          <a:custGeom>
            <a:avLst/>
            <a:gdLst/>
            <a:ahLst/>
            <a:cxnLst/>
            <a:rect r="r" b="b" t="t" l="l"/>
            <a:pathLst>
              <a:path h="2973645" w="7057320">
                <a:moveTo>
                  <a:pt x="0" y="0"/>
                </a:moveTo>
                <a:lnTo>
                  <a:pt x="7057320" y="0"/>
                </a:lnTo>
                <a:lnTo>
                  <a:pt x="7057320" y="2973646"/>
                </a:lnTo>
                <a:lnTo>
                  <a:pt x="0" y="29736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1" t="0" r="-461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90488" y="4090936"/>
            <a:ext cx="2383707" cy="1588145"/>
          </a:xfrm>
          <a:custGeom>
            <a:avLst/>
            <a:gdLst/>
            <a:ahLst/>
            <a:cxnLst/>
            <a:rect r="r" b="b" t="t" l="l"/>
            <a:pathLst>
              <a:path h="1588145" w="2383707">
                <a:moveTo>
                  <a:pt x="0" y="0"/>
                </a:moveTo>
                <a:lnTo>
                  <a:pt x="2383708" y="0"/>
                </a:lnTo>
                <a:lnTo>
                  <a:pt x="2383708" y="1588145"/>
                </a:lnTo>
                <a:lnTo>
                  <a:pt x="0" y="15881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701842" y="7749234"/>
            <a:ext cx="2253721" cy="1196257"/>
          </a:xfrm>
          <a:custGeom>
            <a:avLst/>
            <a:gdLst/>
            <a:ahLst/>
            <a:cxnLst/>
            <a:rect r="r" b="b" t="t" l="l"/>
            <a:pathLst>
              <a:path h="1196257" w="2253721">
                <a:moveTo>
                  <a:pt x="0" y="0"/>
                </a:moveTo>
                <a:lnTo>
                  <a:pt x="2253721" y="0"/>
                </a:lnTo>
                <a:lnTo>
                  <a:pt x="2253721" y="1196257"/>
                </a:lnTo>
                <a:lnTo>
                  <a:pt x="0" y="11962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080999" y="1982064"/>
            <a:ext cx="3490991" cy="43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b="true" sz="2433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6103977"/>
            <a:ext cx="3490991" cy="43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b="true" sz="2433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Why CEP?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45974" y="1982064"/>
            <a:ext cx="3490991" cy="43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b="true" sz="2433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Literature Review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45974" y="9212571"/>
            <a:ext cx="3490991" cy="43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b="true" sz="2433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087439" y="5046919"/>
            <a:ext cx="4008063" cy="43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b="true" sz="2433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 Evaluation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69304" y="1982064"/>
            <a:ext cx="3490991" cy="439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  <a:spcBef>
                <a:spcPct val="0"/>
              </a:spcBef>
            </a:pPr>
            <a:r>
              <a:rPr lang="en-US" b="true" sz="2433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846400" y="2667641"/>
            <a:ext cx="7251100" cy="428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658" indent="-205329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system takes input images or video of unknown environments.</a:t>
            </a:r>
          </a:p>
          <a:p>
            <a:pPr algn="l" marL="410658" indent="-205329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Images are preprocessed to reduce noise and enhance features.</a:t>
            </a:r>
          </a:p>
          <a:p>
            <a:pPr algn="l" marL="410658" indent="-205329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Obstacles are detected using edge detection and segmentation.</a:t>
            </a:r>
          </a:p>
          <a:p>
            <a:pPr algn="l" marL="410658" indent="-205329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 collision-free path is planned from start to goal using the A* algorithm.</a:t>
            </a:r>
          </a:p>
          <a:p>
            <a:pPr algn="l" marL="410658" indent="-205329" lvl="1">
              <a:lnSpc>
                <a:spcPts val="2662"/>
              </a:lnSpc>
              <a:buFont typeface="Arial"/>
              <a:buChar char="•"/>
            </a:pPr>
            <a:r>
              <a:rPr lang="en-US" sz="190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output is visualized by overlaying detected obstacles and the planned path on the image.</a:t>
            </a:r>
          </a:p>
          <a:p>
            <a:pPr algn="l">
              <a:lnSpc>
                <a:spcPts val="2662"/>
              </a:lnSpc>
            </a:pPr>
          </a:p>
          <a:p>
            <a:pPr algn="l">
              <a:lnSpc>
                <a:spcPts val="2662"/>
              </a:lnSpc>
            </a:pPr>
          </a:p>
          <a:p>
            <a:pPr algn="l">
              <a:lnSpc>
                <a:spcPts val="2662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2964258" y="4154403"/>
            <a:ext cx="2334382" cy="121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  <a:spcBef>
                <a:spcPct val="0"/>
              </a:spcBef>
            </a:pPr>
            <a:r>
              <a:rPr lang="en-US" b="true" sz="172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Figure 1</a:t>
            </a:r>
            <a:r>
              <a:rPr lang="en-US" sz="1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Scene with obstacles the robot must navigate through.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982634" y="7757642"/>
            <a:ext cx="2334382" cy="1213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  <a:spcBef>
                <a:spcPct val="0"/>
              </a:spcBef>
            </a:pPr>
            <a:r>
              <a:rPr lang="en-US" b="true" sz="172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Figure 2:</a:t>
            </a:r>
            <a:r>
              <a:rPr lang="en-US" sz="1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Computed path from start (red) to goal (green) avoiding obstacles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25953" y="9250671"/>
            <a:ext cx="6877767" cy="603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2"/>
              </a:lnSpc>
              <a:spcBef>
                <a:spcPct val="0"/>
              </a:spcBef>
            </a:pPr>
            <a:r>
              <a:rPr lang="en-US" b="true" sz="1723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Figure 3:</a:t>
            </a:r>
            <a:r>
              <a:rPr lang="en-US" sz="172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Methodology flow showing key steps and their sequence in the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DAG4w9NEd08</dc:identifier>
  <dcterms:modified xsi:type="dcterms:W3CDTF">2011-08-01T06:04:30Z</dcterms:modified>
  <cp:revision>1</cp:revision>
  <dc:title>White and Blue Professional Modern Technology Pitch Deck Presentation</dc:title>
</cp:coreProperties>
</file>