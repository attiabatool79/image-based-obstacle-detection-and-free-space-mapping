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E4237E-3DA4-4C0D-BA93-F907BBDD94F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21D540-9B26-44BF-9B58-300AEE5579AA}">
      <dgm:prSet custT="1"/>
      <dgm:spPr/>
      <dgm:t>
        <a:bodyPr/>
        <a:lstStyle/>
        <a:p>
          <a:pPr algn="l"/>
          <a:r>
            <a:rPr lang="en-US" sz="1300" dirty="0"/>
            <a:t>• </a:t>
          </a:r>
          <a:r>
            <a:rPr lang="en-US" sz="2000" dirty="0"/>
            <a:t>Autonomous navigation in       unknown environments is challenging</a:t>
          </a:r>
          <a:r>
            <a:rPr lang="en-US" sz="1600" dirty="0"/>
            <a:t>.</a:t>
          </a:r>
          <a:endParaRPr lang="en-US" sz="1300" dirty="0"/>
        </a:p>
      </dgm:t>
    </dgm:pt>
    <dgm:pt modelId="{933ACEF8-B455-4905-B494-AB5382D57BAF}" type="parTrans" cxnId="{FF288547-A160-4A6D-9837-FDB82D3FE773}">
      <dgm:prSet/>
      <dgm:spPr/>
      <dgm:t>
        <a:bodyPr/>
        <a:lstStyle/>
        <a:p>
          <a:endParaRPr lang="en-US"/>
        </a:p>
      </dgm:t>
    </dgm:pt>
    <dgm:pt modelId="{9951D84C-456C-4E5E-BF76-6392EB398BFE}" type="sibTrans" cxnId="{FF288547-A160-4A6D-9837-FDB82D3FE773}">
      <dgm:prSet/>
      <dgm:spPr>
        <a:solidFill>
          <a:schemeClr val="bg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448B1C71-671D-453C-8AED-41141996E967}">
      <dgm:prSet custT="1"/>
      <dgm:spPr/>
      <dgm:t>
        <a:bodyPr/>
        <a:lstStyle/>
        <a:p>
          <a:r>
            <a:rPr lang="en-US" sz="1300" dirty="0"/>
            <a:t>• </a:t>
          </a:r>
          <a:r>
            <a:rPr lang="en-US" sz="2000" dirty="0"/>
            <a:t>Robots must detect obstacles and free space without prior maps</a:t>
          </a:r>
          <a:endParaRPr lang="en-US" sz="1300" dirty="0"/>
        </a:p>
      </dgm:t>
    </dgm:pt>
    <dgm:pt modelId="{904C7A1D-8B2C-42E5-BF2D-DD96ADBED0C5}" type="parTrans" cxnId="{7E040F59-B10D-48F1-8266-2B16040FB8EA}">
      <dgm:prSet/>
      <dgm:spPr/>
      <dgm:t>
        <a:bodyPr/>
        <a:lstStyle/>
        <a:p>
          <a:endParaRPr lang="en-US"/>
        </a:p>
      </dgm:t>
    </dgm:pt>
    <dgm:pt modelId="{86B1F46E-99EE-42A8-AC95-7B61C3464DA8}" type="sibTrans" cxnId="{7E040F59-B10D-48F1-8266-2B16040FB8EA}">
      <dgm:prSet/>
      <dgm:spPr>
        <a:solidFill>
          <a:schemeClr val="bg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BCFFFF5A-FBC6-4091-9833-2F756F0A02F5}">
      <dgm:prSet custT="1"/>
      <dgm:spPr/>
      <dgm:t>
        <a:bodyPr/>
        <a:lstStyle/>
        <a:p>
          <a:r>
            <a:rPr lang="en-US" sz="1300" dirty="0"/>
            <a:t>• </a:t>
          </a:r>
          <a:r>
            <a:rPr lang="en-US" sz="2000" dirty="0"/>
            <a:t>Sensor-based systems are costly and complex.</a:t>
          </a:r>
        </a:p>
      </dgm:t>
    </dgm:pt>
    <dgm:pt modelId="{298BABF1-59BB-4521-932F-964FB078A7E8}" type="parTrans" cxnId="{41DC9D64-42C2-4B12-A2F5-3A23A67CFA51}">
      <dgm:prSet/>
      <dgm:spPr/>
      <dgm:t>
        <a:bodyPr/>
        <a:lstStyle/>
        <a:p>
          <a:endParaRPr lang="en-US"/>
        </a:p>
      </dgm:t>
    </dgm:pt>
    <dgm:pt modelId="{C12500D6-0393-4D66-962A-9F6318BA6889}" type="sibTrans" cxnId="{41DC9D64-42C2-4B12-A2F5-3A23A67CFA51}">
      <dgm:prSet/>
      <dgm:spPr>
        <a:solidFill>
          <a:schemeClr val="bg1"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986D8696-9851-49FA-95D2-40E15781BD1D}">
      <dgm:prSet custT="1"/>
      <dgm:spPr/>
      <dgm:t>
        <a:bodyPr/>
        <a:lstStyle/>
        <a:p>
          <a:r>
            <a:rPr lang="en-US" sz="1300" dirty="0"/>
            <a:t>• </a:t>
          </a:r>
          <a:r>
            <a:rPr lang="en-US" sz="2000" dirty="0"/>
            <a:t>Goal: Develop a low-cost image based obstacle detection and path planning system.</a:t>
          </a:r>
        </a:p>
      </dgm:t>
    </dgm:pt>
    <dgm:pt modelId="{00FD38E3-93EA-49A1-87CA-81F99A37B5B1}" type="parTrans" cxnId="{41964D1D-2D88-4122-90D3-053D3B881F2E}">
      <dgm:prSet/>
      <dgm:spPr/>
      <dgm:t>
        <a:bodyPr/>
        <a:lstStyle/>
        <a:p>
          <a:endParaRPr lang="en-US"/>
        </a:p>
      </dgm:t>
    </dgm:pt>
    <dgm:pt modelId="{843415FD-6329-4C07-89EC-EA8BCEE5E981}" type="sibTrans" cxnId="{41964D1D-2D88-4122-90D3-053D3B881F2E}">
      <dgm:prSet/>
      <dgm:spPr/>
      <dgm:t>
        <a:bodyPr/>
        <a:lstStyle/>
        <a:p>
          <a:endParaRPr lang="en-US"/>
        </a:p>
      </dgm:t>
    </dgm:pt>
    <dgm:pt modelId="{C68CDCD8-1918-405B-8CAF-C09FCB69171C}" type="pres">
      <dgm:prSet presAssocID="{86E4237E-3DA4-4C0D-BA93-F907BBDD94F9}" presName="outerComposite" presStyleCnt="0">
        <dgm:presLayoutVars>
          <dgm:chMax val="5"/>
          <dgm:dir/>
          <dgm:resizeHandles val="exact"/>
        </dgm:presLayoutVars>
      </dgm:prSet>
      <dgm:spPr/>
    </dgm:pt>
    <dgm:pt modelId="{19DD6474-5273-42C3-BFA3-EDCC62AC165D}" type="pres">
      <dgm:prSet presAssocID="{86E4237E-3DA4-4C0D-BA93-F907BBDD94F9}" presName="dummyMaxCanvas" presStyleCnt="0">
        <dgm:presLayoutVars/>
      </dgm:prSet>
      <dgm:spPr/>
    </dgm:pt>
    <dgm:pt modelId="{6DBE6A2F-7E73-400E-B923-2E4A6AC4A547}" type="pres">
      <dgm:prSet presAssocID="{86E4237E-3DA4-4C0D-BA93-F907BBDD94F9}" presName="FourNodes_1" presStyleLbl="node1" presStyleIdx="0" presStyleCnt="4" custScaleX="100026" custLinFactNeighborX="6718" custLinFactNeighborY="5112">
        <dgm:presLayoutVars>
          <dgm:bulletEnabled val="1"/>
        </dgm:presLayoutVars>
      </dgm:prSet>
      <dgm:spPr/>
    </dgm:pt>
    <dgm:pt modelId="{EE1E034D-8289-4595-BDD0-03BED10FD635}" type="pres">
      <dgm:prSet presAssocID="{86E4237E-3DA4-4C0D-BA93-F907BBDD94F9}" presName="FourNodes_2" presStyleLbl="node1" presStyleIdx="1" presStyleCnt="4" custLinFactNeighborX="-1265" custLinFactNeighborY="-4392">
        <dgm:presLayoutVars>
          <dgm:bulletEnabled val="1"/>
        </dgm:presLayoutVars>
      </dgm:prSet>
      <dgm:spPr/>
    </dgm:pt>
    <dgm:pt modelId="{4B1068BD-89E6-4D40-98B3-DB0A1E6E1748}" type="pres">
      <dgm:prSet presAssocID="{86E4237E-3DA4-4C0D-BA93-F907BBDD94F9}" presName="FourNodes_3" presStyleLbl="node1" presStyleIdx="2" presStyleCnt="4" custLinFactNeighborX="-9135" custLinFactNeighborY="-10113">
        <dgm:presLayoutVars>
          <dgm:bulletEnabled val="1"/>
        </dgm:presLayoutVars>
      </dgm:prSet>
      <dgm:spPr/>
    </dgm:pt>
    <dgm:pt modelId="{E6065030-C62C-48E6-BF2F-6F45B015191E}" type="pres">
      <dgm:prSet presAssocID="{86E4237E-3DA4-4C0D-BA93-F907BBDD94F9}" presName="FourNodes_4" presStyleLbl="node1" presStyleIdx="3" presStyleCnt="4" custScaleX="100489" custScaleY="120448" custLinFactNeighborX="-17551" custLinFactNeighborY="-13074">
        <dgm:presLayoutVars>
          <dgm:bulletEnabled val="1"/>
        </dgm:presLayoutVars>
      </dgm:prSet>
      <dgm:spPr/>
    </dgm:pt>
    <dgm:pt modelId="{0CEE7FC8-E8FD-486B-A6F6-9EA9BB838EF8}" type="pres">
      <dgm:prSet presAssocID="{86E4237E-3DA4-4C0D-BA93-F907BBDD94F9}" presName="FourConn_1-2" presStyleLbl="fgAccFollowNode1" presStyleIdx="0" presStyleCnt="3" custLinFactX="100000" custLinFactY="166945" custLinFactNeighborX="129413" custLinFactNeighborY="200000">
        <dgm:presLayoutVars>
          <dgm:bulletEnabled val="1"/>
        </dgm:presLayoutVars>
      </dgm:prSet>
      <dgm:spPr/>
    </dgm:pt>
    <dgm:pt modelId="{352DBBAA-9ADD-41EC-88EA-0CC2E20A22CB}" type="pres">
      <dgm:prSet presAssocID="{86E4237E-3DA4-4C0D-BA93-F907BBDD94F9}" presName="FourConn_2-3" presStyleLbl="fgAccFollowNode1" presStyleIdx="1" presStyleCnt="3" custLinFactX="56512" custLinFactY="100000" custLinFactNeighborX="100000" custLinFactNeighborY="199651">
        <dgm:presLayoutVars>
          <dgm:bulletEnabled val="1"/>
        </dgm:presLayoutVars>
      </dgm:prSet>
      <dgm:spPr/>
    </dgm:pt>
    <dgm:pt modelId="{8C3AA421-B495-4668-AAD0-1BB773ADF4A4}" type="pres">
      <dgm:prSet presAssocID="{86E4237E-3DA4-4C0D-BA93-F907BBDD94F9}" presName="FourConn_3-4" presStyleLbl="fgAccFollowNode1" presStyleIdx="2" presStyleCnt="3" custLinFactX="294062" custLinFactNeighborX="300000" custLinFactNeighborY="-92497">
        <dgm:presLayoutVars>
          <dgm:bulletEnabled val="1"/>
        </dgm:presLayoutVars>
      </dgm:prSet>
      <dgm:spPr/>
    </dgm:pt>
    <dgm:pt modelId="{E69C9D8A-C2BA-44AA-9D6A-BB5C9109CFF7}" type="pres">
      <dgm:prSet presAssocID="{86E4237E-3DA4-4C0D-BA93-F907BBDD94F9}" presName="FourNodes_1_text" presStyleLbl="node1" presStyleIdx="3" presStyleCnt="4">
        <dgm:presLayoutVars>
          <dgm:bulletEnabled val="1"/>
        </dgm:presLayoutVars>
      </dgm:prSet>
      <dgm:spPr/>
    </dgm:pt>
    <dgm:pt modelId="{7170FA97-BF1B-40F3-959A-25EEC8DF491B}" type="pres">
      <dgm:prSet presAssocID="{86E4237E-3DA4-4C0D-BA93-F907BBDD94F9}" presName="FourNodes_2_text" presStyleLbl="node1" presStyleIdx="3" presStyleCnt="4">
        <dgm:presLayoutVars>
          <dgm:bulletEnabled val="1"/>
        </dgm:presLayoutVars>
      </dgm:prSet>
      <dgm:spPr/>
    </dgm:pt>
    <dgm:pt modelId="{604798DF-8EB5-43E7-8269-69AD2B966472}" type="pres">
      <dgm:prSet presAssocID="{86E4237E-3DA4-4C0D-BA93-F907BBDD94F9}" presName="FourNodes_3_text" presStyleLbl="node1" presStyleIdx="3" presStyleCnt="4">
        <dgm:presLayoutVars>
          <dgm:bulletEnabled val="1"/>
        </dgm:presLayoutVars>
      </dgm:prSet>
      <dgm:spPr/>
    </dgm:pt>
    <dgm:pt modelId="{34894841-63AF-4AC8-8D9C-A3A6A7D18282}" type="pres">
      <dgm:prSet presAssocID="{86E4237E-3DA4-4C0D-BA93-F907BBDD94F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1964D1D-2D88-4122-90D3-053D3B881F2E}" srcId="{86E4237E-3DA4-4C0D-BA93-F907BBDD94F9}" destId="{986D8696-9851-49FA-95D2-40E15781BD1D}" srcOrd="3" destOrd="0" parTransId="{00FD38E3-93EA-49A1-87CA-81F99A37B5B1}" sibTransId="{843415FD-6329-4C07-89EC-EA8BCEE5E981}"/>
    <dgm:cxn modelId="{0DCE501E-3330-46C1-A22C-5EBF9DEA30EB}" type="presOf" srcId="{986D8696-9851-49FA-95D2-40E15781BD1D}" destId="{34894841-63AF-4AC8-8D9C-A3A6A7D18282}" srcOrd="1" destOrd="0" presId="urn:microsoft.com/office/officeart/2005/8/layout/vProcess5"/>
    <dgm:cxn modelId="{40AEAF27-D01D-4828-A91C-4F255AE9E9AF}" type="presOf" srcId="{86B1F46E-99EE-42A8-AC95-7B61C3464DA8}" destId="{352DBBAA-9ADD-41EC-88EA-0CC2E20A22CB}" srcOrd="0" destOrd="0" presId="urn:microsoft.com/office/officeart/2005/8/layout/vProcess5"/>
    <dgm:cxn modelId="{06FE3D2C-718D-4C53-9213-8C4FDE9DE015}" type="presOf" srcId="{0321D540-9B26-44BF-9B58-300AEE5579AA}" destId="{E69C9D8A-C2BA-44AA-9D6A-BB5C9109CFF7}" srcOrd="1" destOrd="0" presId="urn:microsoft.com/office/officeart/2005/8/layout/vProcess5"/>
    <dgm:cxn modelId="{8409C45B-D5E4-4C53-ACA7-5CCB8FBD1B17}" type="presOf" srcId="{9951D84C-456C-4E5E-BF76-6392EB398BFE}" destId="{0CEE7FC8-E8FD-486B-A6F6-9EA9BB838EF8}" srcOrd="0" destOrd="0" presId="urn:microsoft.com/office/officeart/2005/8/layout/vProcess5"/>
    <dgm:cxn modelId="{41DC9D64-42C2-4B12-A2F5-3A23A67CFA51}" srcId="{86E4237E-3DA4-4C0D-BA93-F907BBDD94F9}" destId="{BCFFFF5A-FBC6-4091-9833-2F756F0A02F5}" srcOrd="2" destOrd="0" parTransId="{298BABF1-59BB-4521-932F-964FB078A7E8}" sibTransId="{C12500D6-0393-4D66-962A-9F6318BA6889}"/>
    <dgm:cxn modelId="{FF288547-A160-4A6D-9837-FDB82D3FE773}" srcId="{86E4237E-3DA4-4C0D-BA93-F907BBDD94F9}" destId="{0321D540-9B26-44BF-9B58-300AEE5579AA}" srcOrd="0" destOrd="0" parTransId="{933ACEF8-B455-4905-B494-AB5382D57BAF}" sibTransId="{9951D84C-456C-4E5E-BF76-6392EB398BFE}"/>
    <dgm:cxn modelId="{3815EE69-5CC0-435A-A849-D645D4E3B211}" type="presOf" srcId="{0321D540-9B26-44BF-9B58-300AEE5579AA}" destId="{6DBE6A2F-7E73-400E-B923-2E4A6AC4A547}" srcOrd="0" destOrd="0" presId="urn:microsoft.com/office/officeart/2005/8/layout/vProcess5"/>
    <dgm:cxn modelId="{DE0B2B4F-1F1A-49FE-A246-08A275D0C21C}" type="presOf" srcId="{986D8696-9851-49FA-95D2-40E15781BD1D}" destId="{E6065030-C62C-48E6-BF2F-6F45B015191E}" srcOrd="0" destOrd="0" presId="urn:microsoft.com/office/officeart/2005/8/layout/vProcess5"/>
    <dgm:cxn modelId="{7E040F59-B10D-48F1-8266-2B16040FB8EA}" srcId="{86E4237E-3DA4-4C0D-BA93-F907BBDD94F9}" destId="{448B1C71-671D-453C-8AED-41141996E967}" srcOrd="1" destOrd="0" parTransId="{904C7A1D-8B2C-42E5-BF2D-DD96ADBED0C5}" sibTransId="{86B1F46E-99EE-42A8-AC95-7B61C3464DA8}"/>
    <dgm:cxn modelId="{EF888CAE-F7C7-4C7F-9AD2-48714BAE81E5}" type="presOf" srcId="{BCFFFF5A-FBC6-4091-9833-2F756F0A02F5}" destId="{4B1068BD-89E6-4D40-98B3-DB0A1E6E1748}" srcOrd="0" destOrd="0" presId="urn:microsoft.com/office/officeart/2005/8/layout/vProcess5"/>
    <dgm:cxn modelId="{ED78D4BF-D498-45A2-B572-10F937F92603}" type="presOf" srcId="{C12500D6-0393-4D66-962A-9F6318BA6889}" destId="{8C3AA421-B495-4668-AAD0-1BB773ADF4A4}" srcOrd="0" destOrd="0" presId="urn:microsoft.com/office/officeart/2005/8/layout/vProcess5"/>
    <dgm:cxn modelId="{7DC4C2C4-E6F8-4B23-860F-5A9E278D6EB7}" type="presOf" srcId="{448B1C71-671D-453C-8AED-41141996E967}" destId="{7170FA97-BF1B-40F3-959A-25EEC8DF491B}" srcOrd="1" destOrd="0" presId="urn:microsoft.com/office/officeart/2005/8/layout/vProcess5"/>
    <dgm:cxn modelId="{09C425C7-E378-4891-B078-C26FB32806A3}" type="presOf" srcId="{BCFFFF5A-FBC6-4091-9833-2F756F0A02F5}" destId="{604798DF-8EB5-43E7-8269-69AD2B966472}" srcOrd="1" destOrd="0" presId="urn:microsoft.com/office/officeart/2005/8/layout/vProcess5"/>
    <dgm:cxn modelId="{16FBEAD8-12BB-45AA-87AC-33A9F2E1853D}" type="presOf" srcId="{448B1C71-671D-453C-8AED-41141996E967}" destId="{EE1E034D-8289-4595-BDD0-03BED10FD635}" srcOrd="0" destOrd="0" presId="urn:microsoft.com/office/officeart/2005/8/layout/vProcess5"/>
    <dgm:cxn modelId="{2960DFFA-C609-4D4A-BD7C-6A9993D8F1FA}" type="presOf" srcId="{86E4237E-3DA4-4C0D-BA93-F907BBDD94F9}" destId="{C68CDCD8-1918-405B-8CAF-C09FCB69171C}" srcOrd="0" destOrd="0" presId="urn:microsoft.com/office/officeart/2005/8/layout/vProcess5"/>
    <dgm:cxn modelId="{ACE41751-947A-45D3-BA9C-1ED66F9AD68E}" type="presParOf" srcId="{C68CDCD8-1918-405B-8CAF-C09FCB69171C}" destId="{19DD6474-5273-42C3-BFA3-EDCC62AC165D}" srcOrd="0" destOrd="0" presId="urn:microsoft.com/office/officeart/2005/8/layout/vProcess5"/>
    <dgm:cxn modelId="{3AE1AF6A-C722-4A6B-9BEC-D831228CB1FD}" type="presParOf" srcId="{C68CDCD8-1918-405B-8CAF-C09FCB69171C}" destId="{6DBE6A2F-7E73-400E-B923-2E4A6AC4A547}" srcOrd="1" destOrd="0" presId="urn:microsoft.com/office/officeart/2005/8/layout/vProcess5"/>
    <dgm:cxn modelId="{9E3A9474-5A54-416C-9CC6-D0AB6EA72A8E}" type="presParOf" srcId="{C68CDCD8-1918-405B-8CAF-C09FCB69171C}" destId="{EE1E034D-8289-4595-BDD0-03BED10FD635}" srcOrd="2" destOrd="0" presId="urn:microsoft.com/office/officeart/2005/8/layout/vProcess5"/>
    <dgm:cxn modelId="{2726CD83-01D1-4EEE-AAE1-BD9587B2C5C9}" type="presParOf" srcId="{C68CDCD8-1918-405B-8CAF-C09FCB69171C}" destId="{4B1068BD-89E6-4D40-98B3-DB0A1E6E1748}" srcOrd="3" destOrd="0" presId="urn:microsoft.com/office/officeart/2005/8/layout/vProcess5"/>
    <dgm:cxn modelId="{F2951CD7-E93A-4CA3-8005-6A894E00403E}" type="presParOf" srcId="{C68CDCD8-1918-405B-8CAF-C09FCB69171C}" destId="{E6065030-C62C-48E6-BF2F-6F45B015191E}" srcOrd="4" destOrd="0" presId="urn:microsoft.com/office/officeart/2005/8/layout/vProcess5"/>
    <dgm:cxn modelId="{A3E0436B-7376-4B47-A7BC-9C967F1B0A49}" type="presParOf" srcId="{C68CDCD8-1918-405B-8CAF-C09FCB69171C}" destId="{0CEE7FC8-E8FD-486B-A6F6-9EA9BB838EF8}" srcOrd="5" destOrd="0" presId="urn:microsoft.com/office/officeart/2005/8/layout/vProcess5"/>
    <dgm:cxn modelId="{BDD8B8C6-352D-4F75-86CB-BCA2ABDE5C3A}" type="presParOf" srcId="{C68CDCD8-1918-405B-8CAF-C09FCB69171C}" destId="{352DBBAA-9ADD-41EC-88EA-0CC2E20A22CB}" srcOrd="6" destOrd="0" presId="urn:microsoft.com/office/officeart/2005/8/layout/vProcess5"/>
    <dgm:cxn modelId="{A3A490E8-7760-46CA-96E4-85FA4CD453EC}" type="presParOf" srcId="{C68CDCD8-1918-405B-8CAF-C09FCB69171C}" destId="{8C3AA421-B495-4668-AAD0-1BB773ADF4A4}" srcOrd="7" destOrd="0" presId="urn:microsoft.com/office/officeart/2005/8/layout/vProcess5"/>
    <dgm:cxn modelId="{476222FB-7857-4451-A886-0277B3022241}" type="presParOf" srcId="{C68CDCD8-1918-405B-8CAF-C09FCB69171C}" destId="{E69C9D8A-C2BA-44AA-9D6A-BB5C9109CFF7}" srcOrd="8" destOrd="0" presId="urn:microsoft.com/office/officeart/2005/8/layout/vProcess5"/>
    <dgm:cxn modelId="{BFF46C35-C3A6-4DAD-A7CE-91B0B5950299}" type="presParOf" srcId="{C68CDCD8-1918-405B-8CAF-C09FCB69171C}" destId="{7170FA97-BF1B-40F3-959A-25EEC8DF491B}" srcOrd="9" destOrd="0" presId="urn:microsoft.com/office/officeart/2005/8/layout/vProcess5"/>
    <dgm:cxn modelId="{DDBCC0D5-FF64-4256-9D78-A1DC565F0B9E}" type="presParOf" srcId="{C68CDCD8-1918-405B-8CAF-C09FCB69171C}" destId="{604798DF-8EB5-43E7-8269-69AD2B966472}" srcOrd="10" destOrd="0" presId="urn:microsoft.com/office/officeart/2005/8/layout/vProcess5"/>
    <dgm:cxn modelId="{1E8052C1-FCB3-4CAD-8AF5-84B558D1696E}" type="presParOf" srcId="{C68CDCD8-1918-405B-8CAF-C09FCB69171C}" destId="{34894841-63AF-4AC8-8D9C-A3A6A7D1828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E6A2F-7E73-400E-B923-2E4A6AC4A547}">
      <dsp:nvSpPr>
        <dsp:cNvPr id="0" name=""/>
        <dsp:cNvSpPr/>
      </dsp:nvSpPr>
      <dsp:spPr>
        <a:xfrm>
          <a:off x="347343" y="0"/>
          <a:ext cx="5272729" cy="9316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</a:t>
          </a:r>
          <a:r>
            <a:rPr lang="en-US" sz="2000" kern="1200" dirty="0"/>
            <a:t>Autonomous navigation in       unknown environments is challenging</a:t>
          </a:r>
          <a:r>
            <a:rPr lang="en-US" sz="1600" kern="1200" dirty="0"/>
            <a:t>.</a:t>
          </a:r>
          <a:endParaRPr lang="en-US" sz="1300" kern="1200" dirty="0"/>
        </a:p>
      </dsp:txBody>
      <dsp:txXfrm>
        <a:off x="374630" y="27287"/>
        <a:ext cx="4188402" cy="877086"/>
      </dsp:txXfrm>
    </dsp:sp>
    <dsp:sp modelId="{EE1E034D-8289-4595-BDD0-03BED10FD635}">
      <dsp:nvSpPr>
        <dsp:cNvPr id="0" name=""/>
        <dsp:cNvSpPr/>
      </dsp:nvSpPr>
      <dsp:spPr>
        <a:xfrm>
          <a:off x="368692" y="1012508"/>
          <a:ext cx="5271359" cy="9316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</a:t>
          </a:r>
          <a:r>
            <a:rPr lang="en-US" sz="2000" kern="1200" dirty="0"/>
            <a:t>Robots must detect obstacles and free space without prior maps</a:t>
          </a:r>
          <a:endParaRPr lang="en-US" sz="1300" kern="1200" dirty="0"/>
        </a:p>
      </dsp:txBody>
      <dsp:txXfrm>
        <a:off x="395979" y="1039795"/>
        <a:ext cx="4169729" cy="877086"/>
      </dsp:txXfrm>
    </dsp:sp>
    <dsp:sp modelId="{4B1068BD-89E6-4D40-98B3-DB0A1E6E1748}">
      <dsp:nvSpPr>
        <dsp:cNvPr id="0" name=""/>
        <dsp:cNvSpPr/>
      </dsp:nvSpPr>
      <dsp:spPr>
        <a:xfrm>
          <a:off x="388723" y="2060262"/>
          <a:ext cx="5271359" cy="9316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</a:t>
          </a:r>
          <a:r>
            <a:rPr lang="en-US" sz="2000" kern="1200" dirty="0"/>
            <a:t>Sensor-based systems are costly and complex.</a:t>
          </a:r>
        </a:p>
      </dsp:txBody>
      <dsp:txXfrm>
        <a:off x="416010" y="2087549"/>
        <a:ext cx="4176318" cy="877086"/>
      </dsp:txXfrm>
    </dsp:sp>
    <dsp:sp modelId="{E6065030-C62C-48E6-BF2F-6F45B015191E}">
      <dsp:nvSpPr>
        <dsp:cNvPr id="0" name=""/>
        <dsp:cNvSpPr/>
      </dsp:nvSpPr>
      <dsp:spPr>
        <a:xfrm>
          <a:off x="373673" y="3038476"/>
          <a:ext cx="5297136" cy="11221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• </a:t>
          </a:r>
          <a:r>
            <a:rPr lang="en-US" sz="2000" kern="1200" dirty="0"/>
            <a:t>Goal: Develop a low-cost image based obstacle detection and path planning system.</a:t>
          </a:r>
        </a:p>
      </dsp:txBody>
      <dsp:txXfrm>
        <a:off x="406540" y="3071343"/>
        <a:ext cx="4179226" cy="1056432"/>
      </dsp:txXfrm>
    </dsp:sp>
    <dsp:sp modelId="{0CEE7FC8-E8FD-486B-A6F6-9EA9BB838EF8}">
      <dsp:nvSpPr>
        <dsp:cNvPr id="0" name=""/>
        <dsp:cNvSpPr/>
      </dsp:nvSpPr>
      <dsp:spPr>
        <a:xfrm>
          <a:off x="5983619" y="2888084"/>
          <a:ext cx="605579" cy="605579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alpha val="90000"/>
          </a:schemeClr>
        </a:solidFill>
        <a:ln w="15875" cap="rnd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119874" y="2888084"/>
        <a:ext cx="333069" cy="455698"/>
      </dsp:txXfrm>
    </dsp:sp>
    <dsp:sp modelId="{352DBBAA-9ADD-41EC-88EA-0CC2E20A22CB}">
      <dsp:nvSpPr>
        <dsp:cNvPr id="0" name=""/>
        <dsp:cNvSpPr/>
      </dsp:nvSpPr>
      <dsp:spPr>
        <a:xfrm>
          <a:off x="5983619" y="3581619"/>
          <a:ext cx="605579" cy="605579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alpha val="90000"/>
          </a:schemeClr>
        </a:solidFill>
        <a:ln w="15875" cap="rnd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119874" y="3581619"/>
        <a:ext cx="333069" cy="455698"/>
      </dsp:txXfrm>
    </dsp:sp>
    <dsp:sp modelId="{8C3AA421-B495-4668-AAD0-1BB773ADF4A4}">
      <dsp:nvSpPr>
        <dsp:cNvPr id="0" name=""/>
        <dsp:cNvSpPr/>
      </dsp:nvSpPr>
      <dsp:spPr>
        <a:xfrm>
          <a:off x="5983619" y="2307905"/>
          <a:ext cx="605579" cy="605579"/>
        </a:xfrm>
        <a:prstGeom prst="downArrow">
          <a:avLst>
            <a:gd name="adj1" fmla="val 55000"/>
            <a:gd name="adj2" fmla="val 45000"/>
          </a:avLst>
        </a:prstGeom>
        <a:solidFill>
          <a:schemeClr val="bg1">
            <a:alpha val="90000"/>
          </a:schemeClr>
        </a:solidFill>
        <a:ln w="15875" cap="rnd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119874" y="2307905"/>
        <a:ext cx="333069" cy="455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3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7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2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0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3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3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7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0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9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5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6676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87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4019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7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44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3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6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6975" y="504827"/>
            <a:ext cx="9405938" cy="1472566"/>
          </a:xfrm>
        </p:spPr>
        <p:txBody>
          <a:bodyPr>
            <a:noAutofit/>
          </a:bodyPr>
          <a:lstStyle/>
          <a:p>
            <a:pPr algn="ctr"/>
            <a:r>
              <a:rPr sz="44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b="1" dirty="0">
                <a:latin typeface="Arial" panose="020B0604020202020204" pitchFamily="34" charset="0"/>
                <a:cs typeface="Arial" panose="020B0604020202020204" pitchFamily="34" charset="0"/>
              </a:rPr>
              <a:t>Based Obstacle Detection and Free Space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599" y="3600450"/>
            <a:ext cx="6181725" cy="2038350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chemeClr val="tx1"/>
                </a:solidFill>
              </a:rPr>
              <a:t>Digital Image Processing (CP-406)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Presented by: Iqra Khadam (22-CP-35)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                        Attia Batool    (22-CP-79)</a:t>
            </a:r>
          </a:p>
        </p:txBody>
      </p:sp>
      <p:pic>
        <p:nvPicPr>
          <p:cNvPr id="4" name="Picture 3" descr="C:\Users\moon  comp\Downloads\UET_Taxila_logo.svg.png">
            <a:extLst>
              <a:ext uri="{FF2B5EF4-FFF2-40B4-BE49-F238E27FC236}">
                <a16:creationId xmlns:a16="http://schemas.microsoft.com/office/drawing/2014/main" id="{F9CEC633-C5BB-4668-A3C3-A8B08AF317B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68" y="122873"/>
            <a:ext cx="1608455" cy="1472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55"/>
    </mc:Choice>
    <mc:Fallback>
      <p:transition spd="slow" advTm="80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Problem Statement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B29B40E-301B-C0F8-4066-FB8B5668E6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66372"/>
              </p:ext>
            </p:extLst>
          </p:nvPr>
        </p:nvGraphicFramePr>
        <p:xfrm>
          <a:off x="2133601" y="1714500"/>
          <a:ext cx="6589199" cy="4234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reeform 26">
            <a:extLst>
              <a:ext uri="{FF2B5EF4-FFF2-40B4-BE49-F238E27FC236}">
                <a16:creationId xmlns:a16="http://schemas.microsoft.com/office/drawing/2014/main" id="{9589895A-B5F2-4281-AD49-716164A3E6B8}"/>
              </a:ext>
            </a:extLst>
          </p:cNvPr>
          <p:cNvSpPr/>
          <p:nvPr/>
        </p:nvSpPr>
        <p:spPr>
          <a:xfrm>
            <a:off x="7972424" y="1714501"/>
            <a:ext cx="3991511" cy="4057649"/>
          </a:xfrm>
          <a:custGeom>
            <a:avLst/>
            <a:gdLst/>
            <a:ahLst/>
            <a:cxnLst/>
            <a:rect l="l" t="t" r="r" b="b"/>
            <a:pathLst>
              <a:path w="2383707" h="1588145">
                <a:moveTo>
                  <a:pt x="0" y="0"/>
                </a:moveTo>
                <a:lnTo>
                  <a:pt x="2383708" y="0"/>
                </a:lnTo>
                <a:lnTo>
                  <a:pt x="2383708" y="1588145"/>
                </a:lnTo>
                <a:lnTo>
                  <a:pt x="0" y="15881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275" y="581026"/>
            <a:ext cx="5649992" cy="1114425"/>
          </a:xfrm>
        </p:spPr>
        <p:txBody>
          <a:bodyPr>
            <a:normAutofit/>
          </a:bodyPr>
          <a:lstStyle/>
          <a:p>
            <a:r>
              <a:rPr lang="en-US" sz="4000" b="1"/>
              <a:t>Literature Review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275" y="1790700"/>
            <a:ext cx="7086600" cy="386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</a:t>
            </a:r>
            <a:r>
              <a:rPr sz="2400" b="1" dirty="0"/>
              <a:t>Majeed et al. (2019): </a:t>
            </a:r>
            <a:r>
              <a:rPr sz="2400" dirty="0"/>
              <a:t>Used edge detection and morphology for obstacle detection.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b="1" dirty="0"/>
              <a:t>Singh et al. (2020): </a:t>
            </a:r>
            <a:r>
              <a:rPr sz="2400" dirty="0"/>
              <a:t>Image-based navigation using grayscale and segmentation.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b="1" dirty="0"/>
              <a:t>Limitation: </a:t>
            </a:r>
            <a:r>
              <a:rPr sz="2400" dirty="0"/>
              <a:t>Many systems depend on datasets or specific environments.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b="1" dirty="0"/>
              <a:t>Research Gap: </a:t>
            </a:r>
            <a:r>
              <a:rPr sz="2400" dirty="0"/>
              <a:t>Need for fast, dataset-independent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5D2BB-824F-461B-9B9B-7DED9A4750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5738" y="1457326"/>
            <a:ext cx="12006261" cy="5400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306D-A204-4894-81F3-3E2AF78A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230" y="1142367"/>
            <a:ext cx="569696" cy="568928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4D67A9-BD7A-4761-A581-E0028236CF7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783" r="11828"/>
          <a:stretch/>
        </p:blipFill>
        <p:spPr>
          <a:xfrm>
            <a:off x="519112" y="150445"/>
            <a:ext cx="2961285" cy="2227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0E8CE7-52C7-43AC-96C0-ADE1241541D1}"/>
              </a:ext>
            </a:extLst>
          </p:cNvPr>
          <p:cNvPicPr/>
          <p:nvPr/>
        </p:nvPicPr>
        <p:blipFill rotWithShape="1">
          <a:blip r:embed="rId3"/>
          <a:srcRect l="6996" r="58170" b="5791"/>
          <a:stretch/>
        </p:blipFill>
        <p:spPr>
          <a:xfrm>
            <a:off x="4512948" y="151871"/>
            <a:ext cx="1687709" cy="2246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7946D9-372E-4031-AFEC-384EDD64CD96}"/>
              </a:ext>
            </a:extLst>
          </p:cNvPr>
          <p:cNvPicPr/>
          <p:nvPr/>
        </p:nvPicPr>
        <p:blipFill rotWithShape="1">
          <a:blip r:embed="rId4"/>
          <a:srcRect l="8120" r="13695"/>
          <a:stretch/>
        </p:blipFill>
        <p:spPr>
          <a:xfrm>
            <a:off x="9023664" y="162724"/>
            <a:ext cx="2649224" cy="2235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648516-B19C-457C-A070-DA82C295A262}"/>
              </a:ext>
            </a:extLst>
          </p:cNvPr>
          <p:cNvPicPr/>
          <p:nvPr/>
        </p:nvPicPr>
        <p:blipFill rotWithShape="1">
          <a:blip r:embed="rId5"/>
          <a:srcRect l="5595" r="7587"/>
          <a:stretch/>
        </p:blipFill>
        <p:spPr>
          <a:xfrm>
            <a:off x="9023664" y="2812173"/>
            <a:ext cx="2649224" cy="1843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678955-A7D1-4686-B2A5-8D536DDFA5CC}"/>
              </a:ext>
            </a:extLst>
          </p:cNvPr>
          <p:cNvPicPr/>
          <p:nvPr/>
        </p:nvPicPr>
        <p:blipFill rotWithShape="1">
          <a:blip r:embed="rId6"/>
          <a:srcRect l="4380" r="10297"/>
          <a:stretch/>
        </p:blipFill>
        <p:spPr>
          <a:xfrm>
            <a:off x="4503019" y="2825818"/>
            <a:ext cx="3498023" cy="1843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55F16-7856-4EC0-B71E-714CD5FAC245}"/>
              </a:ext>
            </a:extLst>
          </p:cNvPr>
          <p:cNvPicPr/>
          <p:nvPr/>
        </p:nvPicPr>
        <p:blipFill rotWithShape="1">
          <a:blip r:embed="rId7"/>
          <a:srcRect l="9788" r="14256"/>
          <a:stretch/>
        </p:blipFill>
        <p:spPr>
          <a:xfrm>
            <a:off x="519113" y="2825818"/>
            <a:ext cx="2961284" cy="1703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F7D1B2-C443-4A7F-9D23-EC1E04AA36E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4512948" y="4819108"/>
            <a:ext cx="3516669" cy="19829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A22161-271B-4857-995F-D11C0B4F6E75}"/>
              </a:ext>
            </a:extLst>
          </p:cNvPr>
          <p:cNvPicPr/>
          <p:nvPr/>
        </p:nvPicPr>
        <p:blipFill rotWithShape="1">
          <a:blip r:embed="rId3"/>
          <a:srcRect l="62260" r="2906" b="5791"/>
          <a:stretch/>
        </p:blipFill>
        <p:spPr>
          <a:xfrm>
            <a:off x="6193456" y="160974"/>
            <a:ext cx="1783435" cy="224631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415A6D-7A4E-4B2F-8E5C-28DCA3BCB477}"/>
              </a:ext>
            </a:extLst>
          </p:cNvPr>
          <p:cNvSpPr/>
          <p:nvPr/>
        </p:nvSpPr>
        <p:spPr>
          <a:xfrm>
            <a:off x="8029617" y="1399393"/>
            <a:ext cx="1019134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1CBE234-76AF-4B8E-BE0C-C918237326A4}"/>
              </a:ext>
            </a:extLst>
          </p:cNvPr>
          <p:cNvSpPr/>
          <p:nvPr/>
        </p:nvSpPr>
        <p:spPr>
          <a:xfrm>
            <a:off x="10086648" y="2445697"/>
            <a:ext cx="267116" cy="38012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0A075F9-64C4-4FA8-8041-69DBD986047C}"/>
              </a:ext>
            </a:extLst>
          </p:cNvPr>
          <p:cNvSpPr/>
          <p:nvPr/>
        </p:nvSpPr>
        <p:spPr>
          <a:xfrm rot="10800000">
            <a:off x="7976891" y="3582272"/>
            <a:ext cx="1019133" cy="2857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49D8959-FE63-41BC-B424-A1630C610638}"/>
              </a:ext>
            </a:extLst>
          </p:cNvPr>
          <p:cNvSpPr/>
          <p:nvPr/>
        </p:nvSpPr>
        <p:spPr>
          <a:xfrm rot="10800000">
            <a:off x="3528005" y="3505708"/>
            <a:ext cx="975014" cy="36231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1D93CE4-2123-44E3-84FB-621FED6A1BDA}"/>
              </a:ext>
            </a:extLst>
          </p:cNvPr>
          <p:cNvSpPr/>
          <p:nvPr/>
        </p:nvSpPr>
        <p:spPr>
          <a:xfrm>
            <a:off x="1785935" y="4543176"/>
            <a:ext cx="304043" cy="141471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150F88-2C69-49B0-82C3-C1FD7E3A9D82}"/>
              </a:ext>
            </a:extLst>
          </p:cNvPr>
          <p:cNvSpPr/>
          <p:nvPr/>
        </p:nvSpPr>
        <p:spPr>
          <a:xfrm>
            <a:off x="2132842" y="5112918"/>
            <a:ext cx="744755" cy="219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9C33E00-04F4-457C-8686-3E3BA531CBF7}"/>
              </a:ext>
            </a:extLst>
          </p:cNvPr>
          <p:cNvSpPr/>
          <p:nvPr/>
        </p:nvSpPr>
        <p:spPr>
          <a:xfrm>
            <a:off x="1828799" y="5691378"/>
            <a:ext cx="2684149" cy="36231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C63792D-CA8A-4414-BDA8-21253E53093E}"/>
              </a:ext>
            </a:extLst>
          </p:cNvPr>
          <p:cNvSpPr/>
          <p:nvPr/>
        </p:nvSpPr>
        <p:spPr>
          <a:xfrm>
            <a:off x="3535827" y="1334195"/>
            <a:ext cx="1019134" cy="3623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8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Results and Evaluation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0C5272-07C3-436B-B437-88E3CED3A42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9202" y="1809752"/>
            <a:ext cx="5241683" cy="1762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4D5A5-3299-418D-A3E4-C03F11CDA01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96738" y="3724276"/>
            <a:ext cx="4998524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Image-based navigation achieved without datasets.</a:t>
            </a:r>
          </a:p>
          <a:p>
            <a:pPr marL="0" indent="0">
              <a:buNone/>
            </a:pPr>
            <a:r>
              <a:rPr sz="2800" dirty="0"/>
              <a:t>• Efficient and low-complexity system.</a:t>
            </a:r>
          </a:p>
          <a:p>
            <a:pPr marL="0" indent="0">
              <a:buNone/>
            </a:pPr>
            <a:r>
              <a:rPr sz="2800" dirty="0"/>
              <a:t>• Suitable for unknown environments.</a:t>
            </a:r>
          </a:p>
          <a:p>
            <a:pPr marL="0" indent="0">
              <a:buNone/>
            </a:pPr>
            <a:r>
              <a:rPr sz="2800" dirty="0"/>
              <a:t>• Future work: A*, dynamic obstacles, video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B4F-1B8E-4187-97EE-FB10CA27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8674A-15E2-4A3C-B3CF-33F9AED1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            </a:t>
            </a:r>
          </a:p>
          <a:p>
            <a:pPr marL="0" indent="0">
              <a:buNone/>
            </a:pPr>
            <a:r>
              <a:rPr lang="en-US" sz="2400" b="1" dirty="0"/>
              <a:t>                          </a:t>
            </a:r>
          </a:p>
          <a:p>
            <a:pPr marL="0" indent="0">
              <a:buNone/>
            </a:pPr>
            <a:r>
              <a:rPr lang="en-US" sz="2800" b="1" dirty="0"/>
              <a:t>                     </a:t>
            </a:r>
            <a:r>
              <a:rPr lang="en-US" sz="4000" b="1" dirty="0"/>
              <a:t>THANK YOU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945020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143</TotalTime>
  <Words>173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Image Based Obstacle Detection and Free Space Mapping</vt:lpstr>
      <vt:lpstr>Problem Statement</vt:lpstr>
      <vt:lpstr>Literature Review</vt:lpstr>
      <vt:lpstr>Proposed Solution</vt:lpstr>
      <vt:lpstr>.</vt:lpstr>
      <vt:lpstr>Results and Evaluation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Image-Based Obstacle Detection and Free Space Mapping</dc:title>
  <dc:subject/>
  <dc:creator/>
  <cp:keywords/>
  <dc:description>generated using python-pptx</dc:description>
  <cp:lastModifiedBy>Attia Batool</cp:lastModifiedBy>
  <cp:revision>15</cp:revision>
  <dcterms:created xsi:type="dcterms:W3CDTF">2013-01-27T09:14:16Z</dcterms:created>
  <dcterms:modified xsi:type="dcterms:W3CDTF">2026-01-12T11:38:51Z</dcterms:modified>
  <cp:category/>
</cp:coreProperties>
</file>